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165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" y="-586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7278" y="228600"/>
            <a:ext cx="1760934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10B9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CE222 · COMPUTER ORGANIZATION
GIK INSTITUTE ·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42963" y="2154287"/>
            <a:ext cx="7715250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350" b="1" kern="0" spc="-2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VERA-16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842963" y="2885796"/>
            <a:ext cx="77152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2-Address 16-bit Processor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2963" y="3200121"/>
            <a:ext cx="5715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Architecting Efficiency with General-Purpose Register Files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5788" y="4354088"/>
            <a:ext cx="7972425" cy="4893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788" y="4354088"/>
            <a:ext cx="797242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1513" y="4504106"/>
            <a:ext cx="256460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Usman Azhar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71513" y="4695202"/>
            <a:ext cx="6679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ID: 2024653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328988" y="4504106"/>
            <a:ext cx="256460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Reyan Kashif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28988" y="4695202"/>
            <a:ext cx="6679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ID: 2024538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986463" y="4504106"/>
            <a:ext cx="2571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Muhammad Saim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86463" y="4695202"/>
            <a:ext cx="6679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ID: 2024453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62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5407819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PROBLEM &amp; MOTIVATION: WHY VERA-16?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42913" y="1530325"/>
            <a:ext cx="3621881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ACCUMULATOR BOTTLENECK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42913" y="1835721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14375" y="1835721"/>
            <a:ext cx="3202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accumulator (AC) for all arithmetic operations.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42913" y="2122364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14375" y="2085752"/>
            <a:ext cx="3350419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/>
              <a:t>16 bits Instruction but 1 address</a:t>
            </a:r>
          </a:p>
        </p:txBody>
      </p:sp>
      <p:sp>
        <p:nvSpPr>
          <p:cNvPr id="9" name="Text 6"/>
          <p:cNvSpPr/>
          <p:nvPr/>
        </p:nvSpPr>
        <p:spPr>
          <a:xfrm>
            <a:off x="442913" y="2528664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4375" y="2528664"/>
            <a:ext cx="2714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must return to memory before reuse.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2913" y="2778696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08513" y="2778696"/>
            <a:ext cx="33504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instruction types (8) and addressing modes (2).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32672" y="2085752"/>
            <a:ext cx="2000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2063" y="1530325"/>
            <a:ext cx="3629025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VERA-16 SOLUTION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72063" y="1835721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43525" y="1835721"/>
            <a:ext cx="26271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general-purpose 16-bit registers (R0–R7).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72063" y="2085752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43525" y="2085752"/>
            <a:ext cx="3357563" cy="1636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16-bits, with 2-address format: any register as source or destination.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72063" y="2528664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43525" y="2528664"/>
            <a:ext cx="3127459" cy="1636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access eliminate memory use between code execution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72063" y="2778696"/>
            <a:ext cx="2000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43525" y="2778696"/>
            <a:ext cx="26021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instructions across 5-bit opcode space.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6388298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 AT A GLANCE: ARCHITECTURE OVERVIEW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42913" y="1444600"/>
            <a:ext cx="8258175" cy="29434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42913" y="1444600"/>
            <a:ext cx="825817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42913" y="1444600"/>
            <a:ext cx="7144" cy="294344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7225" y="1658913"/>
            <a:ext cx="231694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WORD SIZE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57225" y="1914302"/>
            <a:ext cx="231694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16-BIT</a:t>
            </a:r>
            <a:endParaRPr lang="en-US" sz="2750" dirty="0"/>
          </a:p>
        </p:txBody>
      </p:sp>
      <p:sp>
        <p:nvSpPr>
          <p:cNvPr id="9" name="Text 6"/>
          <p:cNvSpPr/>
          <p:nvPr/>
        </p:nvSpPr>
        <p:spPr>
          <a:xfrm>
            <a:off x="657225" y="2442939"/>
            <a:ext cx="23169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data and instruction width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09941" y="1658913"/>
            <a:ext cx="231694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MEMORY (RAM)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409941" y="1914302"/>
            <a:ext cx="231694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4096×16</a:t>
            </a:r>
            <a:endParaRPr lang="en-US" sz="2750" dirty="0"/>
          </a:p>
        </p:txBody>
      </p:sp>
      <p:sp>
        <p:nvSpPr>
          <p:cNvPr id="12" name="Text 9"/>
          <p:cNvSpPr/>
          <p:nvPr/>
        </p:nvSpPr>
        <p:spPr>
          <a:xfrm>
            <a:off x="3409941" y="2442939"/>
            <a:ext cx="23169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Addressable memory space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162656" y="1658913"/>
            <a:ext cx="231697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REGISTER FILE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162656" y="1914302"/>
            <a:ext cx="2316975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 REGS</a:t>
            </a:r>
            <a:endParaRPr lang="en-US" sz="2750" dirty="0"/>
          </a:p>
        </p:txBody>
      </p:sp>
      <p:sp>
        <p:nvSpPr>
          <p:cNvPr id="15" name="Text 12"/>
          <p:cNvSpPr/>
          <p:nvPr/>
        </p:nvSpPr>
        <p:spPr>
          <a:xfrm>
            <a:off x="6162656" y="2442939"/>
            <a:ext cx="23169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R0–R7 General-Purpose Registers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7225" y="3130637"/>
            <a:ext cx="231694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INSTRUCTION SET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57225" y="3386026"/>
            <a:ext cx="231694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33 OPS</a:t>
            </a:r>
            <a:endParaRPr lang="en-US" sz="2750" dirty="0"/>
          </a:p>
        </p:txBody>
      </p:sp>
      <p:sp>
        <p:nvSpPr>
          <p:cNvPr id="18" name="Text 15"/>
          <p:cNvSpPr/>
          <p:nvPr/>
        </p:nvSpPr>
        <p:spPr>
          <a:xfrm>
            <a:off x="657225" y="3914663"/>
            <a:ext cx="23169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functional coverage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409941" y="3130637"/>
            <a:ext cx="231694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OPCODE SPACE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409941" y="3386026"/>
            <a:ext cx="2316947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5-BIT</a:t>
            </a:r>
            <a:endParaRPr lang="en-US" sz="2750" dirty="0"/>
          </a:p>
        </p:txBody>
      </p:sp>
      <p:sp>
        <p:nvSpPr>
          <p:cNvPr id="21" name="Text 18"/>
          <p:cNvSpPr/>
          <p:nvPr/>
        </p:nvSpPr>
        <p:spPr>
          <a:xfrm>
            <a:off x="3409941" y="3914663"/>
            <a:ext cx="23169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32 instruction slots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62656" y="3130637"/>
            <a:ext cx="231697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ADDRESSING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162656" y="3386026"/>
            <a:ext cx="2316975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 MODES</a:t>
            </a:r>
            <a:endParaRPr lang="en-US" sz="2750" dirty="0"/>
          </a:p>
        </p:txBody>
      </p:sp>
      <p:sp>
        <p:nvSpPr>
          <p:cNvPr id="24" name="Text 21"/>
          <p:cNvSpPr/>
          <p:nvPr/>
        </p:nvSpPr>
        <p:spPr>
          <a:xfrm>
            <a:off x="6162656" y="3914663"/>
            <a:ext cx="23169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Reg, Imm, Direct, Reg-Indirect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4288" y="4673798"/>
            <a:ext cx="9115425" cy="45541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4288" y="4673798"/>
            <a:ext cx="9115425" cy="455414"/>
          </a:xfrm>
          <a:prstGeom prst="rect">
            <a:avLst/>
          </a:prstGeom>
          <a:noFill/>
          <a:ln/>
        </p:spPr>
        <p:txBody>
          <a:bodyPr wrap="square" lIns="510286" tIns="170053" rIns="510286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8FAF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INSTRUCTION WORD: </a:t>
            </a:r>
            <a:r>
              <a:rPr lang="en-US" sz="850" dirty="0">
                <a:solidFill>
                  <a:srgbClr val="10B9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OPCODE(5)</a:t>
            </a:r>
            <a:r>
              <a:rPr lang="en-US" sz="850" dirty="0">
                <a:solidFill>
                  <a:srgbClr val="F8FAF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| </a:t>
            </a:r>
            <a:r>
              <a:rPr lang="en-US" sz="850" dirty="0">
                <a:solidFill>
                  <a:srgbClr val="10B9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MODE(2)</a:t>
            </a:r>
            <a:r>
              <a:rPr lang="en-US" sz="850" dirty="0">
                <a:solidFill>
                  <a:srgbClr val="F8FAF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| </a:t>
            </a:r>
            <a:r>
              <a:rPr lang="en-US" sz="850" dirty="0">
                <a:solidFill>
                  <a:srgbClr val="10B9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DST(3)</a:t>
            </a:r>
            <a:r>
              <a:rPr lang="en-US" sz="850" dirty="0">
                <a:solidFill>
                  <a:srgbClr val="F8FAF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| </a:t>
            </a:r>
            <a:r>
              <a:rPr lang="en-US" sz="850" dirty="0">
                <a:solidFill>
                  <a:srgbClr val="10B9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SRC(6)</a:t>
            </a:r>
            <a:r>
              <a:rPr lang="en-US" sz="850" dirty="0">
                <a:solidFill>
                  <a:srgbClr val="F8FAF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= 16 BITS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4811316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16-BIT INSTRUCTION WORD FORMAT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57200" y="1316013"/>
            <a:ext cx="2581126" cy="45720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031182" y="1316013"/>
            <a:ext cx="7144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09564" y="1371377"/>
            <a:ext cx="47148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OPCODE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564035" y="1591047"/>
            <a:ext cx="3625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 : 11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3033415" y="1316013"/>
            <a:ext cx="1037630" cy="4572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63901" y="1316013"/>
            <a:ext cx="7144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94174" y="1371377"/>
            <a:ext cx="31432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95960" y="1591047"/>
            <a:ext cx="3107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: 9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4067026" y="1316013"/>
            <a:ext cx="1554212" cy="4572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14095" y="1316013"/>
            <a:ext cx="7144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26484" y="1371377"/>
            <a:ext cx="23574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DST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14875" y="1591047"/>
            <a:ext cx="2589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 : 6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5618559" y="1316013"/>
            <a:ext cx="3096816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9095" y="1371377"/>
            <a:ext cx="23574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SRC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37487" y="1591047"/>
            <a:ext cx="2589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 : 0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42913" y="1916088"/>
            <a:ext cx="19573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 bits → 32 instruction slots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2543175" y="1916088"/>
            <a:ext cx="19573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 addressing modes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643438" y="1916088"/>
            <a:ext cx="19573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Destination Reg (R0–R7)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743700" y="1916088"/>
            <a:ext cx="19573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Register, value, or address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42913" y="2446511"/>
            <a:ext cx="82581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WORKED EXAMPLE: </a:t>
            </a:r>
            <a:r>
              <a:rPr lang="en-US" sz="1200" b="1" dirty="0">
                <a:solidFill>
                  <a:srgbClr val="0284C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ADD R2, R5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2913" y="2807271"/>
            <a:ext cx="1316515" cy="269677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FIELD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759427" y="2807271"/>
            <a:ext cx="3013825" cy="269677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VALUE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773253" y="2807271"/>
            <a:ext cx="3927835" cy="269677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BINARY REPRESENTATION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42913" y="3076947"/>
            <a:ext cx="1316515" cy="32325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OPCODE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759427" y="3076947"/>
            <a:ext cx="3013825" cy="32325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ADD (0)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773253" y="3076947"/>
            <a:ext cx="3927835" cy="32325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00000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42913" y="3400202"/>
            <a:ext cx="131651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759427" y="3400202"/>
            <a:ext cx="301382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Reg-to-Reg (0)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773253" y="3400202"/>
            <a:ext cx="392783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00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42913" y="3719885"/>
            <a:ext cx="131651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DST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759427" y="3719885"/>
            <a:ext cx="301382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R2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773253" y="3719885"/>
            <a:ext cx="392783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010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42913" y="4039567"/>
            <a:ext cx="131651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SRC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759427" y="4039567"/>
            <a:ext cx="301382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R5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773253" y="4039567"/>
            <a:ext cx="3927835" cy="31968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000101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42913" y="4434260"/>
            <a:ext cx="8258175" cy="23038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INSTRUCTION: </a:t>
            </a: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00000 00 010 000101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86" y="-1758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5950744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33 INSTRUCTIONS: FUNCTIONAL CATEGORIES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42913" y="1373163"/>
            <a:ext cx="8258175" cy="30934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spc="300"/>
          </a:p>
        </p:txBody>
      </p:sp>
      <p:sp>
        <p:nvSpPr>
          <p:cNvPr id="5" name="Shape 2"/>
          <p:cNvSpPr/>
          <p:nvPr/>
        </p:nvSpPr>
        <p:spPr>
          <a:xfrm>
            <a:off x="442913" y="1373163"/>
            <a:ext cx="825817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42913" y="1373163"/>
            <a:ext cx="7144" cy="309346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506" y="1551756"/>
            <a:ext cx="238838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ARITHMETIC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506" y="1807146"/>
            <a:ext cx="2388384" cy="3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spc="3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ADD SUB MUL INC DEC CMP</a:t>
            </a:r>
            <a:endParaRPr lang="en-US" sz="1050" spc="300" dirty="0"/>
          </a:p>
        </p:txBody>
      </p:sp>
      <p:sp>
        <p:nvSpPr>
          <p:cNvPr id="9" name="Text 6"/>
          <p:cNvSpPr/>
          <p:nvPr/>
        </p:nvSpPr>
        <p:spPr>
          <a:xfrm>
            <a:off x="3374222" y="1551756"/>
            <a:ext cx="238838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LOGIC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74222" y="1807146"/>
            <a:ext cx="1963679" cy="190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spc="3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 OR XOR NOT CMR</a:t>
            </a:r>
            <a:endParaRPr lang="en-US" sz="1050" spc="300" dirty="0"/>
          </a:p>
        </p:txBody>
      </p:sp>
      <p:sp>
        <p:nvSpPr>
          <p:cNvPr id="11" name="Text 8"/>
          <p:cNvSpPr/>
          <p:nvPr/>
        </p:nvSpPr>
        <p:spPr>
          <a:xfrm>
            <a:off x="6126938" y="1551756"/>
            <a:ext cx="2388412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SHIFT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26938" y="1807146"/>
            <a:ext cx="721351" cy="190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spc="3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SHL SHR</a:t>
            </a:r>
            <a:endParaRPr lang="en-US" sz="1050" spc="300" dirty="0"/>
          </a:p>
        </p:txBody>
      </p:sp>
      <p:sp>
        <p:nvSpPr>
          <p:cNvPr id="13" name="Text 10"/>
          <p:cNvSpPr/>
          <p:nvPr/>
        </p:nvSpPr>
        <p:spPr>
          <a:xfrm>
            <a:off x="621506" y="3098490"/>
            <a:ext cx="238838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DATA TRANSFER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21506" y="3353879"/>
            <a:ext cx="1793761" cy="189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spc="3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MOV LDI LDM STM</a:t>
            </a:r>
            <a:endParaRPr lang="en-US" sz="1050" spc="300" dirty="0"/>
          </a:p>
        </p:txBody>
      </p:sp>
      <p:sp>
        <p:nvSpPr>
          <p:cNvPr id="15" name="Text 12"/>
          <p:cNvSpPr/>
          <p:nvPr/>
        </p:nvSpPr>
        <p:spPr>
          <a:xfrm>
            <a:off x="3374222" y="3098490"/>
            <a:ext cx="2388384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CONTROL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374222" y="3353879"/>
            <a:ext cx="1524456" cy="189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spc="3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JMP JZ JNZ HLT</a:t>
            </a:r>
            <a:endParaRPr lang="en-US" sz="1050" spc="300" dirty="0"/>
          </a:p>
        </p:txBody>
      </p:sp>
      <p:sp>
        <p:nvSpPr>
          <p:cNvPr id="17" name="Text 14"/>
          <p:cNvSpPr/>
          <p:nvPr/>
        </p:nvSpPr>
        <p:spPr>
          <a:xfrm>
            <a:off x="6126938" y="3098490"/>
            <a:ext cx="2388412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I/O &amp; INTERRUPT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126938" y="3353879"/>
            <a:ext cx="2388412" cy="19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spc="3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INP OUT SKI SKO ION IOF</a:t>
            </a:r>
            <a:endParaRPr lang="en-US" sz="1050" spc="300" dirty="0"/>
          </a:p>
        </p:txBody>
      </p:sp>
      <p:sp>
        <p:nvSpPr>
          <p:cNvPr id="19" name="Shape 16"/>
          <p:cNvSpPr/>
          <p:nvPr/>
        </p:nvSpPr>
        <p:spPr>
          <a:xfrm>
            <a:off x="14288" y="4609505"/>
            <a:ext cx="9115425" cy="5197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4288" y="4609505"/>
            <a:ext cx="9115425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4288" y="4609505"/>
            <a:ext cx="9115425" cy="519708"/>
          </a:xfrm>
          <a:prstGeom prst="rect">
            <a:avLst/>
          </a:prstGeom>
          <a:noFill/>
          <a:ln/>
        </p:spPr>
        <p:txBody>
          <a:bodyPr wrap="square" lIns="510286" tIns="170053" rIns="510286" bIns="255143" rtlCol="0" anchor="t">
            <a:spAutoFit/>
          </a:bodyPr>
          <a:lstStyle/>
          <a:p>
            <a:pPr marL="0" indent="0" algn="l">
              <a:buNone/>
            </a:pPr>
            <a:r>
              <a:rPr lang="en-US" sz="700" b="1" i="1" dirty="0">
                <a:solidFill>
                  <a:srgbClr val="10B981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TECHNICAL NOTE:</a:t>
            </a:r>
            <a:r>
              <a:rPr lang="en-US" sz="750" i="1" dirty="0">
                <a:solidFill>
                  <a:srgbClr val="64748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Register-reference group (opcode 11110) uses one-hot bit encoding for 7 sub-operations.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5388173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INSIDE THE ALU: ARITHMETIC LOGIC UNIT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42913" y="1444600"/>
            <a:ext cx="8258175" cy="286843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 spc="300"/>
          </a:p>
        </p:txBody>
      </p:sp>
      <p:sp>
        <p:nvSpPr>
          <p:cNvPr id="5" name="Shape 2"/>
          <p:cNvSpPr/>
          <p:nvPr/>
        </p:nvSpPr>
        <p:spPr>
          <a:xfrm>
            <a:off x="442913" y="1444600"/>
            <a:ext cx="825817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1506" y="1658913"/>
            <a:ext cx="170021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RIPPLE-CARRY ADDER</a:t>
            </a:r>
            <a:endParaRPr lang="en-US" sz="900" spc="300" dirty="0"/>
          </a:p>
        </p:txBody>
      </p:sp>
      <p:sp>
        <p:nvSpPr>
          <p:cNvPr id="7" name="Text 4"/>
          <p:cNvSpPr/>
          <p:nvPr/>
        </p:nvSpPr>
        <p:spPr>
          <a:xfrm>
            <a:off x="621506" y="2158975"/>
            <a:ext cx="170021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16-bit Architecture.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Handles ADD, SUB, INC, and DEC operations. Utilizes a MUX-selected Y-input for versatile arithmetic processing.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686050" y="1658913"/>
            <a:ext cx="170021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LOGIC UNIT</a:t>
            </a:r>
            <a:endParaRPr lang="en-US" sz="900" spc="300" dirty="0"/>
          </a:p>
        </p:txBody>
      </p:sp>
      <p:sp>
        <p:nvSpPr>
          <p:cNvPr id="9" name="Text 6"/>
          <p:cNvSpPr/>
          <p:nvPr/>
        </p:nvSpPr>
        <p:spPr>
          <a:xfrm>
            <a:off x="2686050" y="2158975"/>
            <a:ext cx="170021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One-bit Slices.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Performs AND, OR, XOR, and NOT operations. Each slice features a 4×1 MUX for rapid logical computation.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750594" y="1658913"/>
            <a:ext cx="170021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BARREL SHIFTER</a:t>
            </a:r>
            <a:endParaRPr lang="en-US" sz="900" spc="300" dirty="0"/>
          </a:p>
        </p:txBody>
      </p:sp>
      <p:sp>
        <p:nvSpPr>
          <p:cNvPr id="11" name="Text 8"/>
          <p:cNvSpPr/>
          <p:nvPr/>
        </p:nvSpPr>
        <p:spPr>
          <a:xfrm>
            <a:off x="4750594" y="2158975"/>
            <a:ext cx="17002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Shifting.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Shifts left or right by </a:t>
            </a:r>
            <a:r>
              <a:rPr lang="en-US" sz="85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positions (n from IR[3:0]). Captures the shifted-out bit in the Carry flag.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815138" y="1658913"/>
            <a:ext cx="170735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spc="300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ARRAY MULTIPLIER</a:t>
            </a:r>
            <a:endParaRPr lang="en-US" sz="900" spc="300" dirty="0"/>
          </a:p>
        </p:txBody>
      </p:sp>
      <p:sp>
        <p:nvSpPr>
          <p:cNvPr id="13" name="Text 10"/>
          <p:cNvSpPr/>
          <p:nvPr/>
        </p:nvSpPr>
        <p:spPr>
          <a:xfrm>
            <a:off x="6815138" y="2158975"/>
            <a:ext cx="1707356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Native.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16 rows of AND gates + 15 adders. Produces a 32-bit product; the lower 16 bits are stored in the DST register.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4288" y="4598789"/>
            <a:ext cx="9115425" cy="53042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4288" y="4598789"/>
            <a:ext cx="911542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2913" y="4755952"/>
            <a:ext cx="825817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OUTPUT SELECTION: A </a:t>
            </a:r>
            <a:r>
              <a:rPr lang="en-US" sz="750" b="1" dirty="0">
                <a:solidFill>
                  <a:srgbClr val="10B981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4×1 MUX</a:t>
            </a:r>
            <a:r>
              <a:rPr lang="en-US" sz="80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(controlled by S3, S2) selects the sub-unit result for the register file.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6422231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FETCH-DECODE-EXECUTE: CONTROL UNIT CYCLE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42913" y="1516038"/>
            <a:ext cx="8258175" cy="33988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42913" y="1516038"/>
            <a:ext cx="825817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7225" y="1658913"/>
            <a:ext cx="231694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PHASE 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57225" y="2007171"/>
            <a:ext cx="2316947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FETCH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7225" y="2519735"/>
            <a:ext cx="2316947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7225" y="2519735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7225" y="2519735"/>
            <a:ext cx="2316947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AR ← PC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7225" y="2832274"/>
            <a:ext cx="2316947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of next instruction moved to Address Register.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57225" y="3218036"/>
            <a:ext cx="2316947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7225" y="3218036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7225" y="3218036"/>
            <a:ext cx="2316947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IR ← M[AR]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57225" y="3530575"/>
            <a:ext cx="2316947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 fetched from memory into Instruction Register.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57225" y="3916338"/>
            <a:ext cx="2316947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57225" y="3916338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7225" y="3916338"/>
            <a:ext cx="2316947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PC ← PC + 1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7225" y="4228877"/>
            <a:ext cx="2316947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Counter incremented for the next cycle.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409941" y="1658913"/>
            <a:ext cx="2316947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PHASE 02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409941" y="2007171"/>
            <a:ext cx="2316947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DECODE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409941" y="2519735"/>
            <a:ext cx="2316947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409941" y="2519735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409941" y="2519735"/>
            <a:ext cx="2316947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IR[15:11] → DEC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409941" y="2832274"/>
            <a:ext cx="2316947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5-bit Opcode sent to the instruction decoder.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409941" y="3218036"/>
            <a:ext cx="2316947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409941" y="3218036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409941" y="3218036"/>
            <a:ext cx="2316947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IR[10:9] → MODE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409941" y="3530575"/>
            <a:ext cx="2316947" cy="150019"/>
          </a:xfrm>
          <a:prstGeom prst="rect">
            <a:avLst/>
          </a:prstGeom>
          <a:noFill/>
          <a:ln/>
        </p:spPr>
        <p:txBody>
          <a:bodyPr wrap="non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2-bit Addressing Mode identified.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409941" y="3766319"/>
            <a:ext cx="2316947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409941" y="3766319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409941" y="3766319"/>
            <a:ext cx="2316947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IR[8:0] → REGS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409941" y="4078858"/>
            <a:ext cx="2316947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(3-bit) and Source (6-bit) fields extracted.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162656" y="1658913"/>
            <a:ext cx="2324119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PHASE 03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162656" y="2007171"/>
            <a:ext cx="232411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EXECUTE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162656" y="2519735"/>
            <a:ext cx="2324119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162656" y="2519735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62656" y="2519735"/>
            <a:ext cx="2324119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CTRL GEN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162656" y="2832274"/>
            <a:ext cx="2324119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Unit generates timing signals (T0-T7).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62656" y="3218036"/>
            <a:ext cx="2324119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162656" y="3218036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162656" y="3218036"/>
            <a:ext cx="2324119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ALU OP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162656" y="3530575"/>
            <a:ext cx="2324119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Arithmetic or Logic operation performed by ALU.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162656" y="3916338"/>
            <a:ext cx="2324119" cy="22681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162656" y="3916338"/>
            <a:ext cx="28575" cy="22681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162656" y="3916338"/>
            <a:ext cx="2324119" cy="226814"/>
          </a:xfrm>
          <a:prstGeom prst="rect">
            <a:avLst/>
          </a:prstGeom>
          <a:noFill/>
          <a:ln/>
        </p:spPr>
        <p:txBody>
          <a:bodyPr wrap="squar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REG WRITE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162656" y="4228877"/>
            <a:ext cx="2324119" cy="300038"/>
          </a:xfrm>
          <a:prstGeom prst="rect">
            <a:avLst/>
          </a:prstGeom>
          <a:noFill/>
          <a:ln/>
        </p:spPr>
        <p:txBody>
          <a:bodyPr wrap="square" lIns="161544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stored back into the Destination Register.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5668566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I/O OPERATIONS &amp; INTERRUPT MECHANISM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42913" y="1587475"/>
            <a:ext cx="298131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INPUT / OUTPUT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42913" y="2050033"/>
            <a:ext cx="298131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INP (Input)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42913" y="2276847"/>
            <a:ext cx="201989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from Input Device → INPR → AC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42913" y="2635821"/>
            <a:ext cx="298131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OUT (Output)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2913" y="2862635"/>
            <a:ext cx="160734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 → OUTR → Output Device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42913" y="3221608"/>
            <a:ext cx="298131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SKI (Skip Input Flag)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2913" y="3448422"/>
            <a:ext cx="188416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FGI = 1, increment PC (Skip next)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42913" y="3807396"/>
            <a:ext cx="2981316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SKO (Skip Output Flag)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42913" y="4034210"/>
            <a:ext cx="194131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FGO = 1, increment PC (Skip next)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002872" y="1587475"/>
            <a:ext cx="469821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INTERRUPT HANDLING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02872" y="1942877"/>
            <a:ext cx="4698216" cy="25538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002872" y="1942877"/>
            <a:ext cx="28575" cy="25538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02872" y="1942877"/>
            <a:ext cx="4698216" cy="255389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TRIGGER: IEN=1 AND (FGI=1 OR FGO=1) → R ← 1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002872" y="2341141"/>
            <a:ext cx="704720" cy="298252"/>
          </a:xfrm>
          <a:prstGeom prst="rect">
            <a:avLst/>
          </a:prstGeom>
          <a:noFill/>
          <a:ln/>
        </p:spPr>
        <p:txBody>
          <a:bodyPr wrap="non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PHASE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707592" y="2341141"/>
            <a:ext cx="2114187" cy="298252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MICRO-OPERATIONS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821779" y="2341141"/>
            <a:ext cx="1879309" cy="298252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002872" y="2639392"/>
            <a:ext cx="704720" cy="383977"/>
          </a:xfrm>
          <a:prstGeom prst="rect">
            <a:avLst/>
          </a:prstGeom>
          <a:noFill/>
          <a:ln/>
        </p:spPr>
        <p:txBody>
          <a:bodyPr wrap="non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RT0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707592" y="2639392"/>
            <a:ext cx="2114187" cy="383977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AR ← 0, TR ← PC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821779" y="2639392"/>
            <a:ext cx="1879309" cy="383977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return address in TR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002872" y="3023369"/>
            <a:ext cx="704720" cy="380405"/>
          </a:xfrm>
          <a:prstGeom prst="rect">
            <a:avLst/>
          </a:prstGeom>
          <a:noFill/>
          <a:ln/>
        </p:spPr>
        <p:txBody>
          <a:bodyPr wrap="non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RT1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707592" y="3023369"/>
            <a:ext cx="2114187" cy="380405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M[AR] ← TR, PC ←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821779" y="3023369"/>
            <a:ext cx="1879309" cy="380405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PC at memory address 0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002872" y="3403774"/>
            <a:ext cx="704720" cy="380405"/>
          </a:xfrm>
          <a:prstGeom prst="rect">
            <a:avLst/>
          </a:prstGeom>
          <a:noFill/>
          <a:ln/>
        </p:spPr>
        <p:txBody>
          <a:bodyPr wrap="non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RT2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07592" y="3403774"/>
            <a:ext cx="2114187" cy="380405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r>
              <a:rPr lang="en-US" sz="750" b="1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PC ← </a:t>
            </a:r>
            <a:r>
              <a:rPr lang="en-US" sz="750" b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1, IEN ← 0, R ← 0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821779" y="3403774"/>
            <a:ext cx="1879309" cy="380405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Jump to ISR (Addr 1), clear flags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14288" y="4714875"/>
            <a:ext cx="9115425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4288" y="4714875"/>
            <a:ext cx="911542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4288" y="4714875"/>
            <a:ext cx="9115425" cy="414338"/>
          </a:xfrm>
          <a:prstGeom prst="rect">
            <a:avLst/>
          </a:prstGeom>
          <a:noFill/>
          <a:ln/>
        </p:spPr>
        <p:txBody>
          <a:bodyPr wrap="square" lIns="510286" tIns="170053" rIns="510286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Interrupts are processed only after a full Fetch-Decode-Execute cycle is completed.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7759898" cy="36612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VERA-16 VS. MANO MACHINE: ARCHITECTURAL </a:t>
            </a:r>
            <a:r>
              <a:rPr lang="en-US" sz="2100" b="1" kern="0" spc="300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EVOLUTION</a:t>
            </a:r>
            <a:endParaRPr lang="en-US" sz="2100" spc="300" dirty="0"/>
          </a:p>
        </p:txBody>
      </p:sp>
      <p:sp>
        <p:nvSpPr>
          <p:cNvPr id="4" name="Text 1"/>
          <p:cNvSpPr/>
          <p:nvPr/>
        </p:nvSpPr>
        <p:spPr>
          <a:xfrm>
            <a:off x="442913" y="1444600"/>
            <a:ext cx="1651629" cy="369689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FEATURE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094542" y="1444600"/>
            <a:ext cx="2890345" cy="369689"/>
          </a:xfrm>
          <a:prstGeom prst="rect">
            <a:avLst/>
          </a:prstGeom>
          <a:noFill/>
          <a:ln/>
        </p:spPr>
        <p:txBody>
          <a:bodyPr wrap="square" lIns="8509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MANO MACHINE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984886" y="1444600"/>
            <a:ext cx="3716201" cy="369689"/>
          </a:xfrm>
          <a:prstGeom prst="rect">
            <a:avLst/>
          </a:prstGeom>
          <a:noFill/>
          <a:ln/>
        </p:spPr>
        <p:txBody>
          <a:bodyPr wrap="square" lIns="170053" tIns="127508" rIns="8509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VERA-16 PROCESSOR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42913" y="1814289"/>
            <a:ext cx="1651629" cy="319683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094542" y="1814289"/>
            <a:ext cx="2890345" cy="319683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1-address (Accumulator)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84886" y="1814289"/>
            <a:ext cx="3716201" cy="319683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84886" y="2126828"/>
            <a:ext cx="3716201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84886" y="1814289"/>
            <a:ext cx="14288" cy="31968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84886" y="1814289"/>
            <a:ext cx="3716201" cy="319683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2-address (Register File)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42913" y="2133972"/>
            <a:ext cx="1651629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 Bits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094542" y="2123520"/>
            <a:ext cx="2890345" cy="337015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bits → 8 instructions slots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984886" y="2133972"/>
            <a:ext cx="3716201" cy="316111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4886" y="2442939"/>
            <a:ext cx="3716201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84886" y="2133972"/>
            <a:ext cx="14288" cy="316111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84886" y="2133972"/>
            <a:ext cx="3716201" cy="316111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bits → 32 instruction slots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42913" y="2450083"/>
            <a:ext cx="1651629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094542" y="2450083"/>
            <a:ext cx="2890345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(AC only)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984886" y="2450083"/>
            <a:ext cx="3716201" cy="316111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984886" y="2759050"/>
            <a:ext cx="3716201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84886" y="2450083"/>
            <a:ext cx="14288" cy="316111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84886" y="2450083"/>
            <a:ext cx="3716201" cy="316111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GP registers (R0–R7)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42913" y="2766194"/>
            <a:ext cx="1651629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Addressing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094542" y="2766194"/>
            <a:ext cx="2890345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(Direct, Indirect)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984886" y="2766194"/>
            <a:ext cx="3716201" cy="316111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984886" y="3075161"/>
            <a:ext cx="3716201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984886" y="2766194"/>
            <a:ext cx="14288" cy="316111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984886" y="2766194"/>
            <a:ext cx="3716201" cy="316111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(Reg, Imm, Direct, Reg-Indirect)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42913" y="3082305"/>
            <a:ext cx="1651629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Multiply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094542" y="3082305"/>
            <a:ext cx="2890345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loop required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984886" y="3082305"/>
            <a:ext cx="3716201" cy="316111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984886" y="3391272"/>
            <a:ext cx="3716201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984886" y="3082305"/>
            <a:ext cx="14288" cy="316111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127761" y="3171602"/>
            <a:ext cx="128766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 Multiplier (Native)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42913" y="3398416"/>
            <a:ext cx="1651629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 Operations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094542" y="3398416"/>
            <a:ext cx="2890345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AND, Complement, Shift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984886" y="3398416"/>
            <a:ext cx="3716201" cy="316111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984886" y="3707383"/>
            <a:ext cx="3716201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984886" y="3398416"/>
            <a:ext cx="14288" cy="316111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84886" y="3398416"/>
            <a:ext cx="3716201" cy="316111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ADD, SUB, MUL, AND, OR, XOR, NOT, Shifts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42913" y="3714527"/>
            <a:ext cx="1651629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Counter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094542" y="3714527"/>
            <a:ext cx="2890345" cy="316111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4-bit (T0–T15)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984886" y="3714527"/>
            <a:ext cx="3716201" cy="316111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984886" y="4023494"/>
            <a:ext cx="3716201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984886" y="3714527"/>
            <a:ext cx="14288" cy="316111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84886" y="3714527"/>
            <a:ext cx="3716201" cy="316111"/>
          </a:xfrm>
          <a:prstGeom prst="rect">
            <a:avLst/>
          </a:prstGeom>
          <a:noFill/>
          <a:ln/>
        </p:spPr>
        <p:txBody>
          <a:bodyPr wrap="square" lIns="170053" tIns="102108" rIns="8509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3-bit (T0–T7) — Reduced Hardware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5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549064"/>
            <a:ext cx="4857750" cy="43219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-1" dirty="0">
                <a:solidFill>
                  <a:srgbClr val="0F172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 &amp; PRESENTATION SPLIT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42913" y="1587475"/>
            <a:ext cx="4405294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7219" y="1978596"/>
            <a:ext cx="42409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Efficiency: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VERA-16 eliminates the accumulator bottleneck with 8 general-purpose registers.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7219" y="2485802"/>
            <a:ext cx="42409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Versatility: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2-address format and 5-bit opcode enable 33 instructions and 4 addressing modes.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07219" y="2993008"/>
            <a:ext cx="42409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Performance: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Hardware array multiplier and barrel shifter provide superior ALU capability.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7219" y="3500214"/>
            <a:ext cx="42409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Simplicity: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3-bit sequence counter reduces control unit hardware complexity.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07219" y="4007421"/>
            <a:ext cx="42409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Validation: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Fully functional software simulator validates every instruction in real-time.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26850" y="1587475"/>
            <a:ext cx="3274237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0284C7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TEAM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26850" y="2085752"/>
            <a:ext cx="327423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Usman Azhar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26850" y="2276847"/>
            <a:ext cx="327423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ID: 2024653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426850" y="2692971"/>
            <a:ext cx="327423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Reyan Kashif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26850" y="2884066"/>
            <a:ext cx="327423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ID: 2024538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5426850" y="3300189"/>
            <a:ext cx="327423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Muhammad Saim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26850" y="3491285"/>
            <a:ext cx="327423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0284C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ID: 2024453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14288" y="4800377"/>
            <a:ext cx="9115425" cy="4411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4288" y="4800377"/>
            <a:ext cx="911542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288" y="4800377"/>
            <a:ext cx="9115425" cy="441127"/>
          </a:xfrm>
          <a:prstGeom prst="rect">
            <a:avLst/>
          </a:prstGeom>
          <a:noFill/>
          <a:ln/>
        </p:spPr>
        <p:txBody>
          <a:bodyPr wrap="square" lIns="510286" tIns="170053" rIns="510286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VERA-16 · CE222 · GIK INSTITUTE · APRIL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994</Words>
  <Application>Microsoft Office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Inter</vt:lpstr>
      <vt:lpstr>Space Grotesk Bold</vt:lpstr>
      <vt:lpstr>Space Mono</vt:lpstr>
      <vt:lpstr>Space Mono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u2024653</cp:lastModifiedBy>
  <cp:revision>12</cp:revision>
  <dcterms:created xsi:type="dcterms:W3CDTF">2026-05-14T12:57:41Z</dcterms:created>
  <dcterms:modified xsi:type="dcterms:W3CDTF">2026-05-14T15:45:03Z</dcterms:modified>
</cp:coreProperties>
</file>